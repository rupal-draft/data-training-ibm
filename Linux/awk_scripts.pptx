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2" r:id="rId7"/>
    <p:sldId id="263" r:id="rId8"/>
    <p:sldId id="261"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54" y="324"/>
      </p:cViewPr>
      <p:guideLst/>
    </p:cSldViewPr>
  </p:slideViewPr>
  <p:notesTextViewPr>
    <p:cViewPr>
      <p:scale>
        <a:sx n="1" d="1"/>
        <a:sy n="1" d="1"/>
      </p:scale>
      <p:origin x="0" y="0"/>
    </p:cViewPr>
  </p:notesTextViewPr>
  <p:notesViewPr>
    <p:cSldViewPr snapToGrid="0">
      <p:cViewPr varScale="1">
        <p:scale>
          <a:sx n="57" d="100"/>
          <a:sy n="57" d="100"/>
        </p:scale>
        <p:origin x="2808" y="4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7C2DF5-B181-4BA4-8A82-B55C5D0709A1}" type="datetimeFigureOut">
              <a:rPr lang="en-IN" smtClean="0"/>
              <a:t>02-04-2024</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7391ED-9994-423F-9C47-FAD6868544D7}" type="slidenum">
              <a:rPr lang="en-IN" smtClean="0"/>
              <a:t>‹#›</a:t>
            </a:fld>
            <a:endParaRPr lang="en-IN"/>
          </a:p>
        </p:txBody>
      </p:sp>
    </p:spTree>
    <p:extLst>
      <p:ext uri="{BB962C8B-B14F-4D97-AF65-F5344CB8AC3E}">
        <p14:creationId xmlns:p14="http://schemas.microsoft.com/office/powerpoint/2010/main" val="1632120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5F3FFA-BD73-4442-B9D6-E642F496516A}" type="datetimeFigureOut">
              <a:rPr lang="en-IN" smtClean="0"/>
              <a:t>02-04-2024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A512CE-B687-4A9A-B6A4-086DE1B963FE}" type="slidenum">
              <a:rPr lang="en-IN" smtClean="0"/>
              <a:t>‹#›</a:t>
            </a:fld>
            <a:endParaRPr lang="en-IN"/>
          </a:p>
        </p:txBody>
      </p:sp>
    </p:spTree>
    <p:extLst>
      <p:ext uri="{BB962C8B-B14F-4D97-AF65-F5344CB8AC3E}">
        <p14:creationId xmlns:p14="http://schemas.microsoft.com/office/powerpoint/2010/main" val="178722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smtClean="0"/>
              <a:t>awk</a:t>
            </a:r>
            <a:r>
              <a:rPr lang="en-IN" dirty="0" smtClean="0"/>
              <a:t> 'BEGIN{max=0}{if(($3)&gt;max) max=($3)}END {print max}' sample.txt</a:t>
            </a:r>
            <a:endParaRPr lang="en-IN" dirty="0"/>
          </a:p>
        </p:txBody>
      </p:sp>
      <p:sp>
        <p:nvSpPr>
          <p:cNvPr id="4" name="Slide Number Placeholder 3"/>
          <p:cNvSpPr>
            <a:spLocks noGrp="1"/>
          </p:cNvSpPr>
          <p:nvPr>
            <p:ph type="sldNum" sz="quarter" idx="10"/>
          </p:nvPr>
        </p:nvSpPr>
        <p:spPr/>
        <p:txBody>
          <a:bodyPr/>
          <a:lstStyle/>
          <a:p>
            <a:fld id="{E3A512CE-B687-4A9A-B6A4-086DE1B963FE}" type="slidenum">
              <a:rPr lang="en-IN" smtClean="0"/>
              <a:t>7</a:t>
            </a:fld>
            <a:endParaRPr lang="en-IN"/>
          </a:p>
        </p:txBody>
      </p:sp>
    </p:spTree>
    <p:extLst>
      <p:ext uri="{BB962C8B-B14F-4D97-AF65-F5344CB8AC3E}">
        <p14:creationId xmlns:p14="http://schemas.microsoft.com/office/powerpoint/2010/main" val="57903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BD977EE-1D43-4C55-BD8E-8A5EF7B128BD}" type="datetimeFigureOut">
              <a:rPr lang="en-IN" smtClean="0"/>
              <a:t>02-04-2024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2998073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BD977EE-1D43-4C55-BD8E-8A5EF7B128BD}" type="datetimeFigureOut">
              <a:rPr lang="en-IN" smtClean="0"/>
              <a:t>02-04-2024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2737367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D977EE-1D43-4C55-BD8E-8A5EF7B128BD}" type="datetimeFigureOut">
              <a:rPr lang="en-IN" smtClean="0"/>
              <a:t>02-04-2024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2099366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BD977EE-1D43-4C55-BD8E-8A5EF7B128BD}" type="datetimeFigureOut">
              <a:rPr lang="en-IN" smtClean="0"/>
              <a:t>02-04-2024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2579282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BD977EE-1D43-4C55-BD8E-8A5EF7B128BD}" type="datetimeFigureOut">
              <a:rPr lang="en-IN" smtClean="0"/>
              <a:t>02-04-2024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3068334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BD977EE-1D43-4C55-BD8E-8A5EF7B128BD}" type="datetimeFigureOut">
              <a:rPr lang="en-IN" smtClean="0"/>
              <a:t>02-04-2024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1489835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D977EE-1D43-4C55-BD8E-8A5EF7B128BD}" type="datetimeFigureOut">
              <a:rPr lang="en-IN" smtClean="0"/>
              <a:t>02-04-2024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1485990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D977EE-1D43-4C55-BD8E-8A5EF7B128BD}" type="datetimeFigureOut">
              <a:rPr lang="en-IN" smtClean="0"/>
              <a:t>02-04-2024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2821176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D977EE-1D43-4C55-BD8E-8A5EF7B128BD}" type="datetimeFigureOut">
              <a:rPr lang="en-IN" smtClean="0"/>
              <a:t>02-04-2024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3877841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BD977EE-1D43-4C55-BD8E-8A5EF7B128BD}" type="datetimeFigureOut">
              <a:rPr lang="en-IN" smtClean="0"/>
              <a:t>02-04-2024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353034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BD977EE-1D43-4C55-BD8E-8A5EF7B128BD}" type="datetimeFigureOut">
              <a:rPr lang="en-IN" smtClean="0"/>
              <a:t>02-04-2024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E55F1-F959-4F8E-AB65-180E79CF0008}" type="slidenum">
              <a:rPr lang="en-IN" smtClean="0"/>
              <a:t>‹#›</a:t>
            </a:fld>
            <a:endParaRPr lang="en-IN"/>
          </a:p>
        </p:txBody>
      </p:sp>
    </p:spTree>
    <p:extLst>
      <p:ext uri="{BB962C8B-B14F-4D97-AF65-F5344CB8AC3E}">
        <p14:creationId xmlns:p14="http://schemas.microsoft.com/office/powerpoint/2010/main" val="3532821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D977EE-1D43-4C55-BD8E-8A5EF7B128BD}" type="datetimeFigureOut">
              <a:rPr lang="en-IN" smtClean="0"/>
              <a:t>02-04-2024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3E55F1-F959-4F8E-AB65-180E79CF0008}" type="slidenum">
              <a:rPr lang="en-IN" smtClean="0"/>
              <a:t>‹#›</a:t>
            </a:fld>
            <a:endParaRPr lang="en-IN"/>
          </a:p>
        </p:txBody>
      </p:sp>
    </p:spTree>
    <p:extLst>
      <p:ext uri="{BB962C8B-B14F-4D97-AF65-F5344CB8AC3E}">
        <p14:creationId xmlns:p14="http://schemas.microsoft.com/office/powerpoint/2010/main" val="3965599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0782" y="426327"/>
            <a:ext cx="9144000" cy="856562"/>
          </a:xfrm>
        </p:spPr>
        <p:txBody>
          <a:bodyPr>
            <a:normAutofit fontScale="90000"/>
          </a:bodyPr>
          <a:lstStyle/>
          <a:p>
            <a:r>
              <a:rPr lang="en-US" dirty="0" err="1" smtClean="0"/>
              <a:t>Awk</a:t>
            </a:r>
            <a:r>
              <a:rPr lang="en-US" dirty="0" smtClean="0"/>
              <a:t> – An Advanced Filter</a:t>
            </a:r>
            <a:endParaRPr lang="en-IN" dirty="0"/>
          </a:p>
        </p:txBody>
      </p:sp>
      <p:sp>
        <p:nvSpPr>
          <p:cNvPr id="3" name="Subtitle 2"/>
          <p:cNvSpPr>
            <a:spLocks noGrp="1"/>
          </p:cNvSpPr>
          <p:nvPr>
            <p:ph type="subTitle" idx="1"/>
          </p:nvPr>
        </p:nvSpPr>
        <p:spPr>
          <a:xfrm>
            <a:off x="805218" y="1460310"/>
            <a:ext cx="10495128" cy="3797490"/>
          </a:xfrm>
        </p:spPr>
        <p:txBody>
          <a:bodyPr>
            <a:normAutofit fontScale="92500" lnSpcReduction="20000"/>
          </a:bodyPr>
          <a:lstStyle/>
          <a:p>
            <a:pPr marL="342900" indent="-342900" algn="l">
              <a:buFont typeface="Arial" panose="020B0604020202020204" pitchFamily="34" charset="0"/>
              <a:buChar char="•"/>
              <a:defRPr/>
            </a:pPr>
            <a:r>
              <a:rPr lang="en-US" dirty="0"/>
              <a:t>AWK is an advanced filter designed for text processing and typically used as a data extraction and reporting tool. Like </a:t>
            </a:r>
            <a:r>
              <a:rPr lang="en-US" dirty="0" err="1"/>
              <a:t>sed</a:t>
            </a:r>
            <a:r>
              <a:rPr lang="en-US" dirty="0"/>
              <a:t> and </a:t>
            </a:r>
            <a:r>
              <a:rPr lang="en-US" dirty="0" err="1"/>
              <a:t>grep</a:t>
            </a:r>
            <a:r>
              <a:rPr lang="en-US" dirty="0"/>
              <a:t>, it is a filter, and is a standard feature of most Unix-like operating systems</a:t>
            </a:r>
          </a:p>
          <a:p>
            <a:pPr marL="342900" indent="-342900" algn="l">
              <a:buFont typeface="Arial" panose="020B0604020202020204" pitchFamily="34" charset="0"/>
              <a:buChar char="•"/>
              <a:defRPr/>
            </a:pPr>
            <a:r>
              <a:rPr lang="en-US" dirty="0"/>
              <a:t>one of the most widely used tools for the programmer, as they write the scaled-down effective program in the form of a statement to define the text patterns and designs.</a:t>
            </a:r>
          </a:p>
          <a:p>
            <a:pPr marL="342900" indent="-342900" algn="l">
              <a:buFont typeface="Arial" panose="020B0604020202020204" pitchFamily="34" charset="0"/>
              <a:buChar char="•"/>
              <a:defRPr/>
            </a:pPr>
            <a:r>
              <a:rPr lang="en-US" dirty="0"/>
              <a:t>The </a:t>
            </a:r>
            <a:r>
              <a:rPr lang="en-US" dirty="0" err="1"/>
              <a:t>awk</a:t>
            </a:r>
            <a:r>
              <a:rPr lang="en-US" dirty="0"/>
              <a:t> command programming language requires </a:t>
            </a:r>
            <a:r>
              <a:rPr lang="en-US" b="1" dirty="0">
                <a:solidFill>
                  <a:schemeClr val="accent1">
                    <a:lumMod val="75000"/>
                  </a:schemeClr>
                </a:solidFill>
              </a:rPr>
              <a:t>no compiling </a:t>
            </a:r>
            <a:r>
              <a:rPr lang="en-US" dirty="0"/>
              <a:t>and allows the user to use variables, numeric functions, string functions, and logical operators</a:t>
            </a:r>
          </a:p>
          <a:p>
            <a:pPr marL="342900" indent="-342900" algn="l">
              <a:buFont typeface="Arial" panose="020B0604020202020204" pitchFamily="34" charset="0"/>
              <a:buChar char="•"/>
              <a:defRPr/>
            </a:pPr>
            <a:r>
              <a:rPr lang="en-US" dirty="0"/>
              <a:t>     </a:t>
            </a:r>
            <a:r>
              <a:rPr lang="en-US" dirty="0" err="1"/>
              <a:t>Awk</a:t>
            </a:r>
            <a:r>
              <a:rPr lang="en-US" dirty="0"/>
              <a:t> is mostly used for pattern scanning and processing. It searches one or more files to see if they contain lines that matches with the specified patterns and then perform the associated actions. </a:t>
            </a:r>
          </a:p>
          <a:p>
            <a:pPr marL="342900" indent="-342900" algn="l">
              <a:buFont typeface="Arial" panose="020B0604020202020204" pitchFamily="34" charset="0"/>
              <a:buChar char="•"/>
              <a:defRPr/>
            </a:pPr>
            <a:r>
              <a:rPr lang="en-US" dirty="0" err="1"/>
              <a:t>Awk</a:t>
            </a:r>
            <a:r>
              <a:rPr lang="en-US" dirty="0"/>
              <a:t> is abbreviated from the names of the developers – </a:t>
            </a:r>
            <a:r>
              <a:rPr lang="en-US" dirty="0" err="1"/>
              <a:t>Aho</a:t>
            </a:r>
            <a:r>
              <a:rPr lang="en-US" dirty="0"/>
              <a:t>, Weinberger, and Kernighan. </a:t>
            </a:r>
          </a:p>
          <a:p>
            <a:pPr>
              <a:defRPr/>
            </a:pPr>
            <a:endParaRPr lang="en-IN" dirty="0"/>
          </a:p>
          <a:p>
            <a:endParaRPr lang="en-IN" dirty="0"/>
          </a:p>
        </p:txBody>
      </p:sp>
    </p:spTree>
    <p:extLst>
      <p:ext uri="{BB962C8B-B14F-4D97-AF65-F5344CB8AC3E}">
        <p14:creationId xmlns:p14="http://schemas.microsoft.com/office/powerpoint/2010/main" val="72305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CAN WE DO WITH AWK?</a:t>
            </a:r>
            <a:endParaRPr lang="en-IN" dirty="0"/>
          </a:p>
        </p:txBody>
      </p:sp>
      <p:sp>
        <p:nvSpPr>
          <p:cNvPr id="3" name="Content Placeholder 2"/>
          <p:cNvSpPr>
            <a:spLocks noGrp="1"/>
          </p:cNvSpPr>
          <p:nvPr>
            <p:ph idx="1"/>
          </p:nvPr>
        </p:nvSpPr>
        <p:spPr>
          <a:xfrm>
            <a:off x="838200" y="1392072"/>
            <a:ext cx="10515600" cy="4784891"/>
          </a:xfrm>
        </p:spPr>
        <p:txBody>
          <a:bodyPr>
            <a:normAutofit lnSpcReduction="10000"/>
          </a:bodyPr>
          <a:lstStyle/>
          <a:p>
            <a:r>
              <a:rPr lang="en-US" b="1" dirty="0" smtClean="0"/>
              <a:t>1. AWK Operations:</a:t>
            </a:r>
            <a:r>
              <a:rPr lang="en-US" dirty="0" smtClean="0"/>
              <a:t> </a:t>
            </a:r>
            <a:br>
              <a:rPr lang="en-US" dirty="0" smtClean="0"/>
            </a:br>
            <a:r>
              <a:rPr lang="en-US" dirty="0" smtClean="0"/>
              <a:t>(a) Scans a file line by line </a:t>
            </a:r>
            <a:br>
              <a:rPr lang="en-US" dirty="0" smtClean="0"/>
            </a:br>
            <a:r>
              <a:rPr lang="en-US" dirty="0" smtClean="0"/>
              <a:t>(b) Splits each input line into fields </a:t>
            </a:r>
            <a:br>
              <a:rPr lang="en-US" dirty="0" smtClean="0"/>
            </a:br>
            <a:r>
              <a:rPr lang="en-US" dirty="0" smtClean="0"/>
              <a:t>(c) Compares input line/fields to pattern </a:t>
            </a:r>
            <a:br>
              <a:rPr lang="en-US" dirty="0" smtClean="0"/>
            </a:br>
            <a:r>
              <a:rPr lang="en-US" dirty="0" smtClean="0"/>
              <a:t>(d) Performs action(s) on matched lines </a:t>
            </a:r>
          </a:p>
          <a:p>
            <a:r>
              <a:rPr lang="en-US" b="1" dirty="0" smtClean="0"/>
              <a:t>2. Useful For:</a:t>
            </a:r>
            <a:r>
              <a:rPr lang="en-US" dirty="0" smtClean="0"/>
              <a:t> </a:t>
            </a:r>
            <a:br>
              <a:rPr lang="en-US" dirty="0" smtClean="0"/>
            </a:br>
            <a:r>
              <a:rPr lang="en-US" dirty="0" smtClean="0"/>
              <a:t>(a) Transform data files </a:t>
            </a:r>
            <a:br>
              <a:rPr lang="en-US" dirty="0" smtClean="0"/>
            </a:br>
            <a:r>
              <a:rPr lang="en-US" dirty="0" smtClean="0"/>
              <a:t>(b) Produce formatted reports </a:t>
            </a:r>
          </a:p>
          <a:p>
            <a:r>
              <a:rPr lang="en-US" b="1" dirty="0" smtClean="0"/>
              <a:t>3. Programming Constructs:</a:t>
            </a:r>
            <a:r>
              <a:rPr lang="en-US" dirty="0" smtClean="0"/>
              <a:t> </a:t>
            </a:r>
            <a:br>
              <a:rPr lang="en-US" dirty="0" smtClean="0"/>
            </a:br>
            <a:r>
              <a:rPr lang="en-US" dirty="0" smtClean="0"/>
              <a:t>(a) Format output lines </a:t>
            </a:r>
            <a:br>
              <a:rPr lang="en-US" dirty="0" smtClean="0"/>
            </a:br>
            <a:r>
              <a:rPr lang="en-US" dirty="0" smtClean="0"/>
              <a:t>(b) Arithmetic and string operations </a:t>
            </a:r>
            <a:br>
              <a:rPr lang="en-US" dirty="0" smtClean="0"/>
            </a:br>
            <a:r>
              <a:rPr lang="en-US" dirty="0" smtClean="0"/>
              <a:t>(c) Conditionals and loops </a:t>
            </a:r>
          </a:p>
          <a:p>
            <a:endParaRPr lang="en-IN" dirty="0" smtClean="0"/>
          </a:p>
          <a:p>
            <a:endParaRPr lang="en-IN" dirty="0"/>
          </a:p>
        </p:txBody>
      </p:sp>
    </p:spTree>
    <p:extLst>
      <p:ext uri="{BB962C8B-B14F-4D97-AF65-F5344CB8AC3E}">
        <p14:creationId xmlns:p14="http://schemas.microsoft.com/office/powerpoint/2010/main" val="3084360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Various features of the </a:t>
            </a:r>
            <a:r>
              <a:rPr lang="en-US" dirty="0" err="1" smtClean="0"/>
              <a:t>Awk</a:t>
            </a:r>
            <a:r>
              <a:rPr lang="en-US" dirty="0" smtClean="0"/>
              <a:t> command are as follows:</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It scans a file line by line.</a:t>
            </a:r>
          </a:p>
          <a:p>
            <a:r>
              <a:rPr lang="en-US" dirty="0" smtClean="0"/>
              <a:t>It splits a file into multiple fields.</a:t>
            </a:r>
          </a:p>
          <a:p>
            <a:r>
              <a:rPr lang="en-US" dirty="0" smtClean="0"/>
              <a:t>It compares the input text or a segment of a text file.</a:t>
            </a:r>
          </a:p>
          <a:p>
            <a:r>
              <a:rPr lang="en-US" dirty="0" smtClean="0"/>
              <a:t>It performs various actions on a file like searching a specified text and more.</a:t>
            </a:r>
          </a:p>
          <a:p>
            <a:r>
              <a:rPr lang="en-US" dirty="0" smtClean="0"/>
              <a:t>It formats the output lines.</a:t>
            </a:r>
          </a:p>
          <a:p>
            <a:r>
              <a:rPr lang="en-US" dirty="0" smtClean="0"/>
              <a:t>It performs arithmetic and string operations.</a:t>
            </a:r>
          </a:p>
          <a:p>
            <a:r>
              <a:rPr lang="en-US" dirty="0" smtClean="0"/>
              <a:t>It applies the conditions and loops on output.</a:t>
            </a:r>
          </a:p>
          <a:p>
            <a:r>
              <a:rPr lang="en-US" dirty="0" smtClean="0"/>
              <a:t>It transforms the files and data on a specified structure.</a:t>
            </a:r>
          </a:p>
          <a:p>
            <a:r>
              <a:rPr lang="en-US" dirty="0" smtClean="0"/>
              <a:t>It produces the format reports.</a:t>
            </a:r>
          </a:p>
          <a:p>
            <a:endParaRPr lang="en-IN" dirty="0"/>
          </a:p>
        </p:txBody>
      </p:sp>
    </p:spTree>
    <p:extLst>
      <p:ext uri="{BB962C8B-B14F-4D97-AF65-F5344CB8AC3E}">
        <p14:creationId xmlns:p14="http://schemas.microsoft.com/office/powerpoint/2010/main" val="4114726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9018" y="0"/>
            <a:ext cx="10515600" cy="753991"/>
          </a:xfrm>
        </p:spPr>
        <p:txBody>
          <a:bodyPr/>
          <a:lstStyle/>
          <a:p>
            <a:pPr algn="ctr"/>
            <a:r>
              <a:rPr lang="en-US" dirty="0" err="1" smtClean="0"/>
              <a:t>Awk</a:t>
            </a:r>
            <a:r>
              <a:rPr lang="en-US" dirty="0" smtClean="0"/>
              <a:t> syntax</a:t>
            </a:r>
            <a:endParaRPr lang="en-IN" dirty="0"/>
          </a:p>
        </p:txBody>
      </p:sp>
      <p:sp>
        <p:nvSpPr>
          <p:cNvPr id="3" name="Content Placeholder 2"/>
          <p:cNvSpPr>
            <a:spLocks noGrp="1"/>
          </p:cNvSpPr>
          <p:nvPr>
            <p:ph idx="1"/>
          </p:nvPr>
        </p:nvSpPr>
        <p:spPr>
          <a:xfrm>
            <a:off x="824552" y="1095186"/>
            <a:ext cx="10515600" cy="5422972"/>
          </a:xfrm>
        </p:spPr>
        <p:txBody>
          <a:bodyPr>
            <a:normAutofit/>
          </a:bodyPr>
          <a:lstStyle/>
          <a:p>
            <a:r>
              <a:rPr lang="en-US" dirty="0" err="1" smtClean="0"/>
              <a:t>awk</a:t>
            </a:r>
            <a:r>
              <a:rPr lang="en-US" dirty="0" smtClean="0"/>
              <a:t> options ‘</a:t>
            </a:r>
            <a:r>
              <a:rPr lang="en-US" dirty="0" err="1" smtClean="0">
                <a:solidFill>
                  <a:srgbClr val="FF0000"/>
                </a:solidFill>
              </a:rPr>
              <a:t>selection_criteria</a:t>
            </a:r>
            <a:r>
              <a:rPr lang="en-US" dirty="0" smtClean="0">
                <a:solidFill>
                  <a:srgbClr val="FF0000"/>
                </a:solidFill>
              </a:rPr>
              <a:t>  {action}’ </a:t>
            </a:r>
            <a:r>
              <a:rPr lang="en-US" dirty="0" smtClean="0"/>
              <a:t>file(s)</a:t>
            </a:r>
          </a:p>
          <a:p>
            <a:r>
              <a:rPr lang="en-US" dirty="0" err="1" smtClean="0"/>
              <a:t>awk</a:t>
            </a:r>
            <a:r>
              <a:rPr lang="en-US" dirty="0" smtClean="0"/>
              <a:t> '{ print "Welcome to </a:t>
            </a:r>
            <a:r>
              <a:rPr lang="en-US" dirty="0" err="1" smtClean="0"/>
              <a:t>Awk</a:t>
            </a:r>
            <a:r>
              <a:rPr lang="en-US" dirty="0" smtClean="0"/>
              <a:t> command"}'  </a:t>
            </a:r>
          </a:p>
          <a:p>
            <a:r>
              <a:rPr lang="en-IN" dirty="0" err="1" smtClean="0"/>
              <a:t>awk</a:t>
            </a:r>
            <a:r>
              <a:rPr lang="en-IN" dirty="0" smtClean="0"/>
              <a:t> '/ director/ { print } ' emps.txt  </a:t>
            </a:r>
          </a:p>
          <a:p>
            <a:r>
              <a:rPr lang="en-IN" dirty="0" err="1" smtClean="0"/>
              <a:t>awk</a:t>
            </a:r>
            <a:r>
              <a:rPr lang="en-IN" dirty="0" smtClean="0"/>
              <a:t> '{ print }' emps.txt  or print { print $0 }</a:t>
            </a:r>
          </a:p>
          <a:p>
            <a:r>
              <a:rPr lang="en-IN" dirty="0" smtClean="0"/>
              <a:t>Printing multiple fields/columns on the same output line with a single print statement</a:t>
            </a:r>
          </a:p>
          <a:p>
            <a:r>
              <a:rPr lang="en-IN" dirty="0" smtClean="0"/>
              <a:t>{ print $1,$3 } –(expressions separated by a comma are, by </a:t>
            </a:r>
            <a:r>
              <a:rPr lang="en-IN" dirty="0" err="1" smtClean="0"/>
              <a:t>default,separated</a:t>
            </a:r>
            <a:r>
              <a:rPr lang="en-IN" dirty="0" smtClean="0"/>
              <a:t> by a single space in the output</a:t>
            </a:r>
          </a:p>
          <a:p>
            <a:r>
              <a:rPr lang="en-US" dirty="0" smtClean="0"/>
              <a:t>Print statement, when used without any field </a:t>
            </a:r>
            <a:r>
              <a:rPr lang="en-US" dirty="0" err="1" smtClean="0"/>
              <a:t>specifiers</a:t>
            </a:r>
            <a:r>
              <a:rPr lang="en-US" dirty="0" smtClean="0"/>
              <a:t>, prints the entire line</a:t>
            </a:r>
          </a:p>
          <a:p>
            <a:endParaRPr lang="en-IN" dirty="0"/>
          </a:p>
        </p:txBody>
      </p:sp>
    </p:spTree>
    <p:extLst>
      <p:ext uri="{BB962C8B-B14F-4D97-AF65-F5344CB8AC3E}">
        <p14:creationId xmlns:p14="http://schemas.microsoft.com/office/powerpoint/2010/main" val="2052851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734" y="-1730"/>
            <a:ext cx="10515600" cy="861539"/>
          </a:xfrm>
        </p:spPr>
        <p:txBody>
          <a:bodyPr/>
          <a:lstStyle/>
          <a:p>
            <a:pPr algn="ctr"/>
            <a:r>
              <a:rPr lang="en-IN" dirty="0" err="1" smtClean="0"/>
              <a:t>Awk</a:t>
            </a:r>
            <a:r>
              <a:rPr lang="en-IN" dirty="0" smtClean="0"/>
              <a:t> examples</a:t>
            </a:r>
            <a:endParaRPr lang="en-IN" dirty="0"/>
          </a:p>
        </p:txBody>
      </p:sp>
      <p:sp>
        <p:nvSpPr>
          <p:cNvPr id="3" name="Content Placeholder 2"/>
          <p:cNvSpPr>
            <a:spLocks noGrp="1"/>
          </p:cNvSpPr>
          <p:nvPr>
            <p:ph idx="1"/>
          </p:nvPr>
        </p:nvSpPr>
        <p:spPr>
          <a:xfrm>
            <a:off x="838200" y="1214651"/>
            <a:ext cx="10939818" cy="5822121"/>
          </a:xfrm>
        </p:spPr>
        <p:txBody>
          <a:bodyPr>
            <a:normAutofit/>
          </a:bodyPr>
          <a:lstStyle/>
          <a:p>
            <a:r>
              <a:rPr lang="en-IN" dirty="0" err="1"/>
              <a:t>a</a:t>
            </a:r>
            <a:r>
              <a:rPr lang="en-IN" dirty="0" err="1" smtClean="0"/>
              <a:t>wk</a:t>
            </a:r>
            <a:r>
              <a:rPr lang="en-IN" dirty="0" smtClean="0"/>
              <a:t> –F”|” ‘sales/ { print $2,$3,$4 }’ </a:t>
            </a:r>
            <a:r>
              <a:rPr lang="en-IN" dirty="0" err="1" smtClean="0"/>
              <a:t>emps</a:t>
            </a:r>
            <a:endParaRPr lang="en-IN" dirty="0" smtClean="0"/>
          </a:p>
          <a:p>
            <a:r>
              <a:rPr lang="en-US" dirty="0" err="1" smtClean="0"/>
              <a:t>awk</a:t>
            </a:r>
            <a:r>
              <a:rPr lang="en-US" dirty="0" smtClean="0"/>
              <a:t> ‘/</a:t>
            </a:r>
            <a:r>
              <a:rPr lang="en-US" dirty="0" err="1" smtClean="0"/>
              <a:t>miffy</a:t>
            </a:r>
            <a:r>
              <a:rPr lang="en-US" dirty="0" smtClean="0"/>
              <a:t>/ { print $0 }’ </a:t>
            </a:r>
            <a:r>
              <a:rPr lang="en-US" dirty="0" err="1" smtClean="0"/>
              <a:t>emp_data</a:t>
            </a:r>
            <a:endParaRPr lang="en-US" dirty="0" smtClean="0"/>
          </a:p>
          <a:p>
            <a:r>
              <a:rPr lang="en-US" dirty="0" err="1" smtClean="0"/>
              <a:t>awk</a:t>
            </a:r>
            <a:r>
              <a:rPr lang="en-US" dirty="0" smtClean="0"/>
              <a:t> –F”|” ‘$2~/^</a:t>
            </a:r>
            <a:r>
              <a:rPr lang="en-US" dirty="0" err="1" smtClean="0"/>
              <a:t>olan</a:t>
            </a:r>
            <a:r>
              <a:rPr lang="en-US" dirty="0" smtClean="0"/>
              <a:t>$/ { print $0 }’ </a:t>
            </a:r>
            <a:r>
              <a:rPr lang="en-US" dirty="0" err="1" smtClean="0"/>
              <a:t>emp_data</a:t>
            </a:r>
            <a:endParaRPr lang="en-US" dirty="0" smtClean="0"/>
          </a:p>
          <a:p>
            <a:r>
              <a:rPr lang="en-US" dirty="0" err="1" smtClean="0"/>
              <a:t>awk</a:t>
            </a:r>
            <a:r>
              <a:rPr lang="en-US" dirty="0" smtClean="0"/>
              <a:t> –F “|” ‘$2 ~/</a:t>
            </a:r>
            <a:r>
              <a:rPr lang="en-US" dirty="0" err="1" smtClean="0"/>
              <a:t>dexter</a:t>
            </a:r>
            <a:r>
              <a:rPr lang="en-US" dirty="0" smtClean="0"/>
              <a:t>/ { print $0 }’ </a:t>
            </a:r>
            <a:r>
              <a:rPr lang="en-US" dirty="0" err="1" smtClean="0"/>
              <a:t>emp_data</a:t>
            </a:r>
            <a:endParaRPr lang="en-US" dirty="0" smtClean="0"/>
          </a:p>
          <a:p>
            <a:r>
              <a:rPr lang="en-US" dirty="0" err="1" smtClean="0"/>
              <a:t>awk</a:t>
            </a:r>
            <a:r>
              <a:rPr lang="en-US" dirty="0" smtClean="0"/>
              <a:t> –F “|” ‘$3 ~/sales/ { print $0 }’ </a:t>
            </a:r>
            <a:r>
              <a:rPr lang="en-US" dirty="0" err="1" smtClean="0"/>
              <a:t>emp_data</a:t>
            </a:r>
            <a:endParaRPr lang="en-US" dirty="0" smtClean="0"/>
          </a:p>
          <a:p>
            <a:r>
              <a:rPr lang="en-US" dirty="0" err="1" smtClean="0"/>
              <a:t>awk</a:t>
            </a:r>
            <a:r>
              <a:rPr lang="en-US" dirty="0" smtClean="0"/>
              <a:t> –F “|” ‘$3 ~/sales/ { print $0 }’ </a:t>
            </a:r>
            <a:r>
              <a:rPr lang="en-US" dirty="0" err="1" smtClean="0"/>
              <a:t>emp_data</a:t>
            </a:r>
            <a:endParaRPr lang="en-US" dirty="0" smtClean="0"/>
          </a:p>
          <a:p>
            <a:r>
              <a:rPr lang="en-US" dirty="0" err="1" smtClean="0"/>
              <a:t>awk</a:t>
            </a:r>
            <a:r>
              <a:rPr lang="en-US" dirty="0" smtClean="0"/>
              <a:t> –F “|” ‘$3 !~/sales/ { print $0 }’ </a:t>
            </a:r>
            <a:r>
              <a:rPr lang="en-US" dirty="0" err="1" smtClean="0"/>
              <a:t>emp_data</a:t>
            </a:r>
            <a:endParaRPr lang="en-US" dirty="0" smtClean="0"/>
          </a:p>
          <a:p>
            <a:r>
              <a:rPr lang="en-US" dirty="0" err="1" smtClean="0"/>
              <a:t>awk</a:t>
            </a:r>
            <a:r>
              <a:rPr lang="en-US" dirty="0" smtClean="0"/>
              <a:t> –F “|” ‘$3 ~/accts/ { print $1 “ “ $2 “ “ $5 }’ </a:t>
            </a:r>
            <a:r>
              <a:rPr lang="en-US" dirty="0" err="1" smtClean="0"/>
              <a:t>emp_data</a:t>
            </a:r>
            <a:endParaRPr lang="en-US" dirty="0" smtClean="0"/>
          </a:p>
          <a:p>
            <a:endParaRPr lang="en-IN" dirty="0"/>
          </a:p>
        </p:txBody>
      </p:sp>
    </p:spTree>
    <p:extLst>
      <p:ext uri="{BB962C8B-B14F-4D97-AF65-F5344CB8AC3E}">
        <p14:creationId xmlns:p14="http://schemas.microsoft.com/office/powerpoint/2010/main" val="2577940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Operators – relational operators</a:t>
            </a:r>
            <a:br>
              <a:rPr lang="en-US" dirty="0" smtClean="0"/>
            </a:br>
            <a:r>
              <a:rPr lang="en-US" dirty="0" smtClean="0"/>
              <a:t>&lt;,&gt;,&lt;=,&gt;=</a:t>
            </a:r>
            <a:endParaRPr lang="en-IN" dirty="0"/>
          </a:p>
        </p:txBody>
      </p:sp>
      <p:sp>
        <p:nvSpPr>
          <p:cNvPr id="3" name="Content Placeholder 2"/>
          <p:cNvSpPr>
            <a:spLocks noGrp="1"/>
          </p:cNvSpPr>
          <p:nvPr>
            <p:ph idx="1"/>
          </p:nvPr>
        </p:nvSpPr>
        <p:spPr/>
        <p:txBody>
          <a:bodyPr/>
          <a:lstStyle/>
          <a:p>
            <a:r>
              <a:rPr lang="en-US" dirty="0" err="1" smtClean="0"/>
              <a:t>awk</a:t>
            </a:r>
            <a:r>
              <a:rPr lang="en-US" dirty="0" smtClean="0"/>
              <a:t>  ‘$4&lt;=5000 ’ </a:t>
            </a:r>
            <a:r>
              <a:rPr lang="en-US" dirty="0" err="1" smtClean="0"/>
              <a:t>emp_data</a:t>
            </a:r>
            <a:endParaRPr lang="en-US" dirty="0" smtClean="0"/>
          </a:p>
          <a:p>
            <a:r>
              <a:rPr lang="en-US" dirty="0" err="1" smtClean="0"/>
              <a:t>awk</a:t>
            </a:r>
            <a:r>
              <a:rPr lang="en-US" dirty="0" smtClean="0"/>
              <a:t> </a:t>
            </a:r>
            <a:r>
              <a:rPr lang="en-US" dirty="0"/>
              <a:t> </a:t>
            </a:r>
            <a:r>
              <a:rPr lang="en-US" dirty="0" smtClean="0"/>
              <a:t>‘$4&gt;9000 ’ </a:t>
            </a:r>
            <a:r>
              <a:rPr lang="en-US" dirty="0" err="1" smtClean="0"/>
              <a:t>emp_data</a:t>
            </a:r>
            <a:endParaRPr lang="en-US" dirty="0" smtClean="0"/>
          </a:p>
          <a:p>
            <a:endParaRPr lang="en-US" dirty="0" smtClean="0"/>
          </a:p>
          <a:p>
            <a:endParaRPr lang="en-IN" dirty="0"/>
          </a:p>
        </p:txBody>
      </p:sp>
    </p:spTree>
    <p:extLst>
      <p:ext uri="{BB962C8B-B14F-4D97-AF65-F5344CB8AC3E}">
        <p14:creationId xmlns:p14="http://schemas.microsoft.com/office/powerpoint/2010/main" val="1799823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Operators – logical –AND,OR,NOT</a:t>
            </a:r>
            <a:br>
              <a:rPr lang="en-US" dirty="0" smtClean="0"/>
            </a:br>
            <a:r>
              <a:rPr lang="en-US" dirty="0" smtClean="0"/>
              <a:t>&amp;&amp;,||,!</a:t>
            </a:r>
            <a:endParaRPr lang="en-IN" dirty="0"/>
          </a:p>
        </p:txBody>
      </p:sp>
      <p:sp>
        <p:nvSpPr>
          <p:cNvPr id="3" name="Content Placeholder 2"/>
          <p:cNvSpPr>
            <a:spLocks noGrp="1"/>
          </p:cNvSpPr>
          <p:nvPr>
            <p:ph idx="1"/>
          </p:nvPr>
        </p:nvSpPr>
        <p:spPr/>
        <p:txBody>
          <a:bodyPr/>
          <a:lstStyle/>
          <a:p>
            <a:r>
              <a:rPr lang="en-US" dirty="0" err="1" smtClean="0"/>
              <a:t>awk</a:t>
            </a:r>
            <a:r>
              <a:rPr lang="en-US" dirty="0" smtClean="0"/>
              <a:t> –F “|” ‘$4&gt;5000 &amp;&amp; $3==“</a:t>
            </a:r>
            <a:r>
              <a:rPr lang="en-US" dirty="0" err="1" smtClean="0"/>
              <a:t>qa</a:t>
            </a:r>
            <a:r>
              <a:rPr lang="en-US" dirty="0" smtClean="0"/>
              <a:t>” ’ </a:t>
            </a:r>
            <a:r>
              <a:rPr lang="en-US" dirty="0" err="1" smtClean="0"/>
              <a:t>emp_data</a:t>
            </a:r>
            <a:endParaRPr lang="en-US" dirty="0" smtClean="0"/>
          </a:p>
          <a:p>
            <a:r>
              <a:rPr lang="en-IN" dirty="0" err="1"/>
              <a:t>awk</a:t>
            </a:r>
            <a:r>
              <a:rPr lang="en-IN" dirty="0"/>
              <a:t> –F”|” ‘$2 == “director” || $2 == “chairman” { print NR, $0 }’ </a:t>
            </a:r>
            <a:r>
              <a:rPr lang="en-IN" dirty="0" err="1"/>
              <a:t>emps</a:t>
            </a:r>
            <a:endParaRPr lang="en-IN" dirty="0"/>
          </a:p>
          <a:p>
            <a:r>
              <a:rPr lang="en-US" dirty="0" err="1" smtClean="0"/>
              <a:t>awk</a:t>
            </a:r>
            <a:r>
              <a:rPr lang="en-US" dirty="0" smtClean="0"/>
              <a:t> –F “|” ‘$3 == “accts”|| $3 == “fin” ’ </a:t>
            </a:r>
            <a:r>
              <a:rPr lang="en-US" dirty="0" err="1" smtClean="0"/>
              <a:t>emp_data</a:t>
            </a:r>
            <a:endParaRPr lang="en-US" dirty="0" smtClean="0"/>
          </a:p>
          <a:p>
            <a:r>
              <a:rPr lang="en-US" dirty="0" err="1" smtClean="0"/>
              <a:t>awk</a:t>
            </a:r>
            <a:r>
              <a:rPr lang="en-US" dirty="0" smtClean="0"/>
              <a:t> –F “|” ‘$4&gt;5000 || $5 ~/20$ ’ </a:t>
            </a:r>
            <a:r>
              <a:rPr lang="en-US" dirty="0" err="1" smtClean="0"/>
              <a:t>emp_data</a:t>
            </a:r>
            <a:endParaRPr lang="en-US" dirty="0" smtClean="0"/>
          </a:p>
          <a:p>
            <a:r>
              <a:rPr lang="en-US" dirty="0" err="1" smtClean="0"/>
              <a:t>awk</a:t>
            </a:r>
            <a:r>
              <a:rPr lang="en-US" dirty="0" smtClean="0"/>
              <a:t> –F “|” ‘$2 ~ /^a/ { print $0 }’ </a:t>
            </a:r>
            <a:r>
              <a:rPr lang="en-US" dirty="0" err="1" smtClean="0"/>
              <a:t>emp_data</a:t>
            </a:r>
            <a:r>
              <a:rPr lang="en-US" dirty="0" smtClean="0"/>
              <a:t> </a:t>
            </a:r>
          </a:p>
          <a:p>
            <a:r>
              <a:rPr lang="en-IN" dirty="0" err="1" smtClean="0"/>
              <a:t>awk</a:t>
            </a:r>
            <a:r>
              <a:rPr lang="en-IN" dirty="0" smtClean="0"/>
              <a:t> ' </a:t>
            </a:r>
            <a:r>
              <a:rPr lang="en-IN" dirty="0"/>
              <a:t>$2&lt;50 || $3&lt;50 || $4&lt;50 ) </a:t>
            </a:r>
            <a:r>
              <a:rPr lang="en-IN" dirty="0" smtClean="0"/>
              <a:t>{ print $0 </a:t>
            </a:r>
            <a:r>
              <a:rPr lang="en-IN" dirty="0"/>
              <a:t>}' </a:t>
            </a:r>
            <a:r>
              <a:rPr lang="en-IN" dirty="0" smtClean="0"/>
              <a:t>students.txt</a:t>
            </a:r>
          </a:p>
          <a:p>
            <a:endParaRPr lang="en-US" dirty="0" smtClean="0"/>
          </a:p>
          <a:p>
            <a:endParaRPr lang="en-IN" dirty="0"/>
          </a:p>
        </p:txBody>
      </p:sp>
    </p:spTree>
    <p:extLst>
      <p:ext uri="{BB962C8B-B14F-4D97-AF65-F5344CB8AC3E}">
        <p14:creationId xmlns:p14="http://schemas.microsoft.com/office/powerpoint/2010/main" val="4164394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and string operations </a:t>
            </a:r>
            <a:endParaRPr lang="en-IN" dirty="0"/>
          </a:p>
        </p:txBody>
      </p:sp>
      <p:sp>
        <p:nvSpPr>
          <p:cNvPr id="3" name="Content Placeholder 2"/>
          <p:cNvSpPr>
            <a:spLocks noGrp="1"/>
          </p:cNvSpPr>
          <p:nvPr>
            <p:ph idx="1"/>
          </p:nvPr>
        </p:nvSpPr>
        <p:spPr/>
        <p:txBody>
          <a:bodyPr/>
          <a:lstStyle/>
          <a:p>
            <a:r>
              <a:rPr lang="en-US" dirty="0" err="1" smtClean="0"/>
              <a:t>awk</a:t>
            </a:r>
            <a:r>
              <a:rPr lang="en-US" dirty="0" smtClean="0"/>
              <a:t> –F “|” ‘{ </a:t>
            </a:r>
            <a:r>
              <a:rPr lang="en-US" dirty="0" err="1" smtClean="0"/>
              <a:t>hra</a:t>
            </a:r>
            <a:r>
              <a:rPr lang="en-US" dirty="0" smtClean="0"/>
              <a:t>=$4*0.25;da=$4*0.5; print $0,hra,da } ’ </a:t>
            </a:r>
            <a:r>
              <a:rPr lang="en-US" dirty="0" err="1" smtClean="0"/>
              <a:t>emp_data</a:t>
            </a:r>
            <a:endParaRPr lang="en-US" dirty="0" smtClean="0"/>
          </a:p>
          <a:p>
            <a:r>
              <a:rPr lang="en-US" dirty="0" err="1" smtClean="0"/>
              <a:t>ls</a:t>
            </a:r>
            <a:r>
              <a:rPr lang="en-US" dirty="0" smtClean="0"/>
              <a:t> –</a:t>
            </a:r>
            <a:r>
              <a:rPr lang="en-US" dirty="0" err="1" smtClean="0"/>
              <a:t>l|awk</a:t>
            </a:r>
            <a:r>
              <a:rPr lang="en-US" dirty="0" smtClean="0"/>
              <a:t> ‘{ print $1,$2,$5,$9 }’</a:t>
            </a:r>
          </a:p>
          <a:p>
            <a:endParaRPr lang="en-US" dirty="0" smtClean="0"/>
          </a:p>
          <a:p>
            <a:endParaRPr lang="en-US" dirty="0" smtClean="0"/>
          </a:p>
          <a:p>
            <a:endParaRPr lang="en-IN" dirty="0"/>
          </a:p>
        </p:txBody>
      </p:sp>
    </p:spTree>
    <p:extLst>
      <p:ext uri="{BB962C8B-B14F-4D97-AF65-F5344CB8AC3E}">
        <p14:creationId xmlns:p14="http://schemas.microsoft.com/office/powerpoint/2010/main" val="1604418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63174"/>
          </a:xfrm>
        </p:spPr>
        <p:txBody>
          <a:bodyPr/>
          <a:lstStyle/>
          <a:p>
            <a:r>
              <a:rPr lang="en-US" dirty="0" smtClean="0"/>
              <a:t>Built-in variables in AWK command</a:t>
            </a:r>
            <a:endParaRPr lang="en-IN" dirty="0"/>
          </a:p>
        </p:txBody>
      </p:sp>
      <p:sp>
        <p:nvSpPr>
          <p:cNvPr id="3" name="Content Placeholder 2"/>
          <p:cNvSpPr>
            <a:spLocks noGrp="1"/>
          </p:cNvSpPr>
          <p:nvPr>
            <p:ph idx="1"/>
          </p:nvPr>
        </p:nvSpPr>
        <p:spPr>
          <a:xfrm>
            <a:off x="545910" y="723332"/>
            <a:ext cx="11232108" cy="6134668"/>
          </a:xfrm>
        </p:spPr>
        <p:txBody>
          <a:bodyPr>
            <a:normAutofit fontScale="92500" lnSpcReduction="20000"/>
          </a:bodyPr>
          <a:lstStyle/>
          <a:p>
            <a:pPr>
              <a:defRPr/>
            </a:pPr>
            <a:r>
              <a:rPr lang="en-US" dirty="0" err="1"/>
              <a:t>Awk</a:t>
            </a:r>
            <a:r>
              <a:rPr lang="en-US" dirty="0"/>
              <a:t> command supports many built-in variables, which include $1, $2, and so on, that break the file content into individual segments.</a:t>
            </a:r>
          </a:p>
          <a:p>
            <a:pPr>
              <a:defRPr/>
            </a:pPr>
            <a:r>
              <a:rPr lang="en-US" b="1" dirty="0"/>
              <a:t>NR:</a:t>
            </a:r>
            <a:r>
              <a:rPr lang="en-US" dirty="0"/>
              <a:t> It is used to show the current count of the lines. The </a:t>
            </a:r>
            <a:r>
              <a:rPr lang="en-US" dirty="0" err="1"/>
              <a:t>awk</a:t>
            </a:r>
            <a:r>
              <a:rPr lang="en-US" dirty="0"/>
              <a:t> command performs action once for each line. These lines are said as records.</a:t>
            </a:r>
          </a:p>
          <a:p>
            <a:pPr>
              <a:defRPr/>
            </a:pPr>
            <a:r>
              <a:rPr lang="en-US" b="1" dirty="0"/>
              <a:t>NF:</a:t>
            </a:r>
            <a:r>
              <a:rPr lang="en-US" dirty="0"/>
              <a:t> It is used to count the number of fields within the current database.</a:t>
            </a:r>
          </a:p>
          <a:p>
            <a:pPr>
              <a:defRPr/>
            </a:pPr>
            <a:r>
              <a:rPr lang="en-US" b="1" dirty="0"/>
              <a:t>FS:</a:t>
            </a:r>
            <a:r>
              <a:rPr lang="en-US" dirty="0"/>
              <a:t> It is used to create a field separator character to divide fields into the input lines.</a:t>
            </a:r>
          </a:p>
          <a:p>
            <a:pPr>
              <a:defRPr/>
            </a:pPr>
            <a:r>
              <a:rPr lang="en-US" b="1" dirty="0"/>
              <a:t>$NF: </a:t>
            </a:r>
            <a:r>
              <a:rPr lang="en-US" dirty="0"/>
              <a:t>The variable returns the last column of the table</a:t>
            </a:r>
          </a:p>
          <a:p>
            <a:pPr>
              <a:defRPr/>
            </a:pPr>
            <a:r>
              <a:rPr lang="en-US" b="1" dirty="0"/>
              <a:t>OFS:</a:t>
            </a:r>
            <a:r>
              <a:rPr lang="en-US" dirty="0"/>
              <a:t> It is used to store the output field separator. It separates the output fields.</a:t>
            </a:r>
          </a:p>
          <a:p>
            <a:pPr>
              <a:defRPr/>
            </a:pPr>
            <a:r>
              <a:rPr lang="en-US" b="1" dirty="0"/>
              <a:t>ORS:</a:t>
            </a:r>
            <a:r>
              <a:rPr lang="en-US" dirty="0"/>
              <a:t> It is used to store the output record separator. It separates the output records. It prints the content of the ORS command automatically</a:t>
            </a:r>
            <a:r>
              <a:rPr lang="en-US" dirty="0" smtClean="0"/>
              <a:t>.</a:t>
            </a:r>
          </a:p>
          <a:p>
            <a:pPr>
              <a:defRPr/>
            </a:pPr>
            <a:r>
              <a:rPr lang="en-US" dirty="0" smtClean="0">
                <a:solidFill>
                  <a:srgbClr val="FF0000"/>
                </a:solidFill>
              </a:rPr>
              <a:t>No type declarations are needed</a:t>
            </a:r>
          </a:p>
          <a:p>
            <a:pPr>
              <a:defRPr/>
            </a:pPr>
            <a:r>
              <a:rPr lang="en-US" dirty="0" smtClean="0">
                <a:solidFill>
                  <a:srgbClr val="FF0000"/>
                </a:solidFill>
              </a:rPr>
              <a:t>By </a:t>
            </a:r>
            <a:r>
              <a:rPr lang="en-US" dirty="0" err="1" smtClean="0">
                <a:solidFill>
                  <a:srgbClr val="FF0000"/>
                </a:solidFill>
              </a:rPr>
              <a:t>default,variables</a:t>
            </a:r>
            <a:r>
              <a:rPr lang="en-US" dirty="0" smtClean="0">
                <a:solidFill>
                  <a:srgbClr val="FF0000"/>
                </a:solidFill>
              </a:rPr>
              <a:t> are initialized to zero or a null </a:t>
            </a:r>
            <a:r>
              <a:rPr lang="en-US" dirty="0" err="1" smtClean="0">
                <a:solidFill>
                  <a:srgbClr val="FF0000"/>
                </a:solidFill>
              </a:rPr>
              <a:t>string,depending</a:t>
            </a:r>
            <a:r>
              <a:rPr lang="en-US" dirty="0" smtClean="0">
                <a:solidFill>
                  <a:srgbClr val="FF0000"/>
                </a:solidFill>
              </a:rPr>
              <a:t> on its </a:t>
            </a:r>
            <a:r>
              <a:rPr lang="en-US" dirty="0" err="1" smtClean="0">
                <a:solidFill>
                  <a:srgbClr val="FF0000"/>
                </a:solidFill>
              </a:rPr>
              <a:t>type.awk</a:t>
            </a:r>
            <a:r>
              <a:rPr lang="en-US" dirty="0" smtClean="0">
                <a:solidFill>
                  <a:srgbClr val="FF0000"/>
                </a:solidFill>
              </a:rPr>
              <a:t> has a mechanism of identifying the type of variable used from its context.</a:t>
            </a:r>
            <a:endParaRPr lang="en-US" dirty="0">
              <a:solidFill>
                <a:srgbClr val="FF0000"/>
              </a:solidFill>
            </a:endParaRPr>
          </a:p>
          <a:p>
            <a:pPr>
              <a:defRPr/>
            </a:pPr>
            <a:r>
              <a:rPr lang="nn-NO" dirty="0"/>
              <a:t>awk '{ print NR,$0 }' emps.txt   </a:t>
            </a:r>
          </a:p>
          <a:p>
            <a:endParaRPr lang="en-IN" dirty="0"/>
          </a:p>
        </p:txBody>
      </p:sp>
    </p:spTree>
    <p:extLst>
      <p:ext uri="{BB962C8B-B14F-4D97-AF65-F5344CB8AC3E}">
        <p14:creationId xmlns:p14="http://schemas.microsoft.com/office/powerpoint/2010/main" val="2396730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682388"/>
          </a:xfrm>
        </p:spPr>
        <p:txBody>
          <a:bodyPr>
            <a:normAutofit fontScale="90000"/>
          </a:bodyPr>
          <a:lstStyle/>
          <a:p>
            <a:r>
              <a:rPr lang="en-IN" dirty="0" smtClean="0"/>
              <a:t>The BEGIN and END statements(sections)</a:t>
            </a:r>
            <a:endParaRPr lang="en-IN" dirty="0"/>
          </a:p>
        </p:txBody>
      </p:sp>
      <p:sp>
        <p:nvSpPr>
          <p:cNvPr id="3" name="Content Placeholder 2"/>
          <p:cNvSpPr>
            <a:spLocks noGrp="1"/>
          </p:cNvSpPr>
          <p:nvPr>
            <p:ph idx="1"/>
          </p:nvPr>
        </p:nvSpPr>
        <p:spPr>
          <a:xfrm>
            <a:off x="838200" y="805218"/>
            <a:ext cx="10515600" cy="5371745"/>
          </a:xfrm>
        </p:spPr>
        <p:txBody>
          <a:bodyPr>
            <a:normAutofit/>
          </a:bodyPr>
          <a:lstStyle/>
          <a:p>
            <a:r>
              <a:rPr lang="en-IN" dirty="0" smtClean="0">
                <a:solidFill>
                  <a:srgbClr val="00B0F0"/>
                </a:solidFill>
              </a:rPr>
              <a:t>BEGIN</a:t>
            </a:r>
            <a:r>
              <a:rPr lang="en-IN" dirty="0" smtClean="0"/>
              <a:t> { action } - begins processing before the first line is read </a:t>
            </a:r>
          </a:p>
          <a:p>
            <a:r>
              <a:rPr lang="en-IN" dirty="0" smtClean="0">
                <a:solidFill>
                  <a:srgbClr val="00B0F0"/>
                </a:solidFill>
              </a:rPr>
              <a:t>END</a:t>
            </a:r>
            <a:r>
              <a:rPr lang="en-IN" dirty="0" smtClean="0"/>
              <a:t> { action } –begins processing after all records have been processed</a:t>
            </a:r>
          </a:p>
          <a:p>
            <a:r>
              <a:rPr lang="en-IN" dirty="0" smtClean="0"/>
              <a:t>BEGIN { print “ Welcome to </a:t>
            </a:r>
            <a:r>
              <a:rPr lang="en-IN" dirty="0" err="1" smtClean="0"/>
              <a:t>awk</a:t>
            </a:r>
            <a:r>
              <a:rPr lang="en-IN" dirty="0" smtClean="0"/>
              <a:t> programming”; print “” }</a:t>
            </a:r>
          </a:p>
          <a:p>
            <a:r>
              <a:rPr lang="en-IN" dirty="0" smtClean="0"/>
              <a:t>{ print }</a:t>
            </a:r>
          </a:p>
          <a:p>
            <a:r>
              <a:rPr lang="en-IN" dirty="0" smtClean="0"/>
              <a:t>END { print “Total lines in the file “, NR }</a:t>
            </a:r>
          </a:p>
          <a:p>
            <a:r>
              <a:rPr lang="en-IN" dirty="0" smtClean="0">
                <a:solidFill>
                  <a:srgbClr val="00B0F0"/>
                </a:solidFill>
              </a:rPr>
              <a:t>Note – { print “” } prints a blank line</a:t>
            </a:r>
          </a:p>
          <a:p>
            <a:r>
              <a:rPr lang="en-IN" dirty="0" smtClean="0">
                <a:solidFill>
                  <a:srgbClr val="00B0F0"/>
                </a:solidFill>
              </a:rPr>
              <a:t>{ print } prints current record</a:t>
            </a:r>
          </a:p>
          <a:p>
            <a:endParaRPr lang="en-US" dirty="0" smtClean="0"/>
          </a:p>
          <a:p>
            <a:pPr marL="0" indent="0">
              <a:buNone/>
            </a:pPr>
            <a:endParaRPr lang="en-US" dirty="0" smtClean="0"/>
          </a:p>
          <a:p>
            <a:endParaRPr lang="en-US" dirty="0" smtClean="0"/>
          </a:p>
          <a:p>
            <a:endParaRPr lang="en-US" dirty="0" smtClean="0"/>
          </a:p>
          <a:p>
            <a:endParaRPr lang="en-IN" dirty="0"/>
          </a:p>
        </p:txBody>
      </p:sp>
    </p:spTree>
    <p:extLst>
      <p:ext uri="{BB962C8B-B14F-4D97-AF65-F5344CB8AC3E}">
        <p14:creationId xmlns:p14="http://schemas.microsoft.com/office/powerpoint/2010/main" val="4253984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Begin and end sections</a:t>
            </a:r>
            <a:endParaRPr lang="en-IN" dirty="0"/>
          </a:p>
        </p:txBody>
      </p:sp>
      <p:sp>
        <p:nvSpPr>
          <p:cNvPr id="3" name="Content Placeholder 2"/>
          <p:cNvSpPr>
            <a:spLocks noGrp="1"/>
          </p:cNvSpPr>
          <p:nvPr>
            <p:ph idx="1"/>
          </p:nvPr>
        </p:nvSpPr>
        <p:spPr/>
        <p:txBody>
          <a:bodyPr>
            <a:normAutofit/>
          </a:bodyPr>
          <a:lstStyle/>
          <a:p>
            <a:r>
              <a:rPr lang="en-IN" dirty="0" smtClean="0"/>
              <a:t>Ideally </a:t>
            </a:r>
            <a:r>
              <a:rPr lang="en-IN" dirty="0" smtClean="0">
                <a:solidFill>
                  <a:srgbClr val="00B0F0"/>
                </a:solidFill>
              </a:rPr>
              <a:t>BEGIN</a:t>
            </a:r>
            <a:r>
              <a:rPr lang="en-IN" dirty="0" smtClean="0"/>
              <a:t> {  FS=“|” },an alternative to the –F option</a:t>
            </a:r>
          </a:p>
          <a:p>
            <a:r>
              <a:rPr lang="en-US" dirty="0" err="1" smtClean="0"/>
              <a:t>awk</a:t>
            </a:r>
            <a:r>
              <a:rPr lang="en-US" smtClean="0"/>
              <a:t>  </a:t>
            </a:r>
            <a:r>
              <a:rPr lang="en-US" dirty="0" smtClean="0"/>
              <a:t>‘ BEGIN { print ”Record #”, ”</a:t>
            </a:r>
            <a:r>
              <a:rPr lang="en-US" dirty="0" err="1" smtClean="0"/>
              <a:t>Empid</a:t>
            </a:r>
            <a:r>
              <a:rPr lang="en-US" dirty="0" smtClean="0"/>
              <a:t>”, ”salary” } { </a:t>
            </a:r>
            <a:r>
              <a:rPr lang="en-US" dirty="0" err="1" smtClean="0"/>
              <a:t>hra</a:t>
            </a:r>
            <a:r>
              <a:rPr lang="en-US" dirty="0" smtClean="0"/>
              <a:t>=$4*0.25;da=$4*0.5 } { print NR,” “ $1,$4,hra,da } ’ </a:t>
            </a:r>
            <a:r>
              <a:rPr lang="en-US" dirty="0" err="1" smtClean="0"/>
              <a:t>emp_data</a:t>
            </a:r>
            <a:endParaRPr lang="en-US" dirty="0" smtClean="0"/>
          </a:p>
          <a:p>
            <a:r>
              <a:rPr lang="en-US" dirty="0" err="1" smtClean="0"/>
              <a:t>awk</a:t>
            </a:r>
            <a:r>
              <a:rPr lang="en-US" dirty="0" smtClean="0"/>
              <a:t>  ‘{ sum+=$4 } </a:t>
            </a:r>
            <a:r>
              <a:rPr lang="en-US" dirty="0" smtClean="0">
                <a:solidFill>
                  <a:srgbClr val="00B0F0"/>
                </a:solidFill>
              </a:rPr>
              <a:t>END</a:t>
            </a:r>
            <a:r>
              <a:rPr lang="en-US" dirty="0" smtClean="0"/>
              <a:t> { print “Total salaries: ” sum }’ </a:t>
            </a:r>
            <a:r>
              <a:rPr lang="en-US" dirty="0" err="1" smtClean="0"/>
              <a:t>emp_data</a:t>
            </a:r>
            <a:endParaRPr lang="en-US" dirty="0" smtClean="0"/>
          </a:p>
          <a:p>
            <a:r>
              <a:rPr lang="en-US" dirty="0" err="1" smtClean="0"/>
              <a:t>awk</a:t>
            </a:r>
            <a:r>
              <a:rPr lang="en-US" dirty="0" smtClean="0"/>
              <a:t> ‘$3 == “accts”|| $3 == “fin” { </a:t>
            </a:r>
            <a:r>
              <a:rPr lang="en-US" dirty="0" err="1" smtClean="0"/>
              <a:t>ctr</a:t>
            </a:r>
            <a:r>
              <a:rPr lang="en-US" dirty="0" smtClean="0"/>
              <a:t> = ctr+1 } END</a:t>
            </a:r>
          </a:p>
          <a:p>
            <a:pPr marL="0" indent="0">
              <a:buNone/>
            </a:pPr>
            <a:r>
              <a:rPr lang="en-US" dirty="0" smtClean="0"/>
              <a:t>{ print </a:t>
            </a:r>
            <a:r>
              <a:rPr lang="en-US" dirty="0" err="1" smtClean="0"/>
              <a:t>ctr</a:t>
            </a:r>
            <a:r>
              <a:rPr lang="en-US" dirty="0" smtClean="0"/>
              <a:t>, “No  of </a:t>
            </a:r>
            <a:r>
              <a:rPr lang="en-US" dirty="0" err="1" smtClean="0"/>
              <a:t>Emps</a:t>
            </a:r>
            <a:r>
              <a:rPr lang="en-US" dirty="0" smtClean="0"/>
              <a:t>” }’ </a:t>
            </a:r>
            <a:r>
              <a:rPr lang="en-US" dirty="0" err="1" smtClean="0"/>
              <a:t>emp_data</a:t>
            </a:r>
            <a:endParaRPr lang="en-US" dirty="0" smtClean="0"/>
          </a:p>
          <a:p>
            <a:r>
              <a:rPr lang="en-US" dirty="0" err="1" smtClean="0"/>
              <a:t>ls</a:t>
            </a:r>
            <a:r>
              <a:rPr lang="en-US" dirty="0" smtClean="0"/>
              <a:t> -</a:t>
            </a:r>
            <a:r>
              <a:rPr lang="en-US" dirty="0" err="1" smtClean="0"/>
              <a:t>l|awk</a:t>
            </a:r>
            <a:r>
              <a:rPr lang="en-US" dirty="0" smtClean="0"/>
              <a:t> ‘{ x+= $5 };</a:t>
            </a:r>
            <a:r>
              <a:rPr lang="en-US" dirty="0" smtClean="0">
                <a:solidFill>
                  <a:srgbClr val="00B0F0"/>
                </a:solidFill>
              </a:rPr>
              <a:t>END</a:t>
            </a:r>
            <a:r>
              <a:rPr lang="en-US" dirty="0" smtClean="0"/>
              <a:t> { print “total bytes:” x }’</a:t>
            </a:r>
          </a:p>
          <a:p>
            <a:endParaRPr lang="en-IN" dirty="0"/>
          </a:p>
        </p:txBody>
      </p:sp>
    </p:spTree>
    <p:extLst>
      <p:ext uri="{BB962C8B-B14F-4D97-AF65-F5344CB8AC3E}">
        <p14:creationId xmlns:p14="http://schemas.microsoft.com/office/powerpoint/2010/main" val="2125538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8" name="Rectangle 7"/>
          <p:cNvSpPr/>
          <p:nvPr/>
        </p:nvSpPr>
        <p:spPr>
          <a:xfrm>
            <a:off x="838200" y="1511069"/>
            <a:ext cx="10803340" cy="5386090"/>
          </a:xfrm>
          <a:prstGeom prst="rect">
            <a:avLst/>
          </a:prstGeom>
        </p:spPr>
        <p:txBody>
          <a:bodyPr wrap="square">
            <a:spAutoFit/>
          </a:bodyPr>
          <a:lstStyle/>
          <a:p>
            <a:pPr marL="457200" indent="-457200">
              <a:buFont typeface="Arial" panose="020B0604020202020204" pitchFamily="34" charset="0"/>
              <a:buChar char="•"/>
            </a:pPr>
            <a:r>
              <a:rPr lang="en-US" sz="2400" dirty="0" err="1" smtClean="0"/>
              <a:t>awk</a:t>
            </a:r>
            <a:r>
              <a:rPr lang="en-US" sz="2400" dirty="0" smtClean="0"/>
              <a:t> '{ print NR,$0 }' </a:t>
            </a:r>
            <a:r>
              <a:rPr lang="en-US" sz="2400" dirty="0" err="1" smtClean="0"/>
              <a:t>emp_data</a:t>
            </a:r>
            <a:endParaRPr lang="en-US" sz="2400" dirty="0" smtClean="0"/>
          </a:p>
          <a:p>
            <a:pPr marL="457200" lvl="0" indent="-457200">
              <a:buFont typeface="Arial" panose="020B0604020202020204" pitchFamily="34" charset="0"/>
              <a:buChar char="•"/>
            </a:pPr>
            <a:r>
              <a:rPr kumimoji="0" lang="en-US" sz="2400" b="0" i="0" u="none" strike="noStrike" cap="none" normalizeH="0" baseline="0" dirty="0" err="1" smtClean="0">
                <a:ln>
                  <a:noFill/>
                </a:ln>
                <a:solidFill>
                  <a:srgbClr val="273239"/>
                </a:solidFill>
                <a:effectLst/>
                <a:latin typeface="Consolas" panose="020B0609020204030204" pitchFamily="49" charset="0"/>
              </a:rPr>
              <a:t>awk</a:t>
            </a:r>
            <a:r>
              <a:rPr kumimoji="0" lang="en-US" sz="2400" b="0" i="0" u="none" strike="noStrike" cap="none" normalizeH="0" baseline="0" dirty="0" smtClean="0">
                <a:ln>
                  <a:noFill/>
                </a:ln>
                <a:solidFill>
                  <a:srgbClr val="273239"/>
                </a:solidFill>
                <a:effectLst/>
                <a:latin typeface="Consolas" panose="020B0609020204030204" pitchFamily="49" charset="0"/>
              </a:rPr>
              <a:t> '{ print $1,$NF }' employee.txt </a:t>
            </a:r>
          </a:p>
          <a:p>
            <a:pPr marL="457200" indent="-457200">
              <a:buFont typeface="Arial" panose="020B0604020202020204" pitchFamily="34" charset="0"/>
              <a:buChar char="•"/>
            </a:pPr>
            <a:r>
              <a:rPr lang="en-IN" sz="2400" dirty="0">
                <a:solidFill>
                  <a:srgbClr val="273239"/>
                </a:solidFill>
                <a:latin typeface="Consolas" panose="020B0609020204030204" pitchFamily="49" charset="0"/>
              </a:rPr>
              <a:t>To display lines bet 3 to 6</a:t>
            </a:r>
          </a:p>
          <a:p>
            <a:pPr marL="457200" indent="-457200">
              <a:buFont typeface="Arial" panose="020B0604020202020204" pitchFamily="34" charset="0"/>
              <a:buChar char="•"/>
            </a:pPr>
            <a:r>
              <a:rPr lang="en-IN" sz="2400" dirty="0" err="1">
                <a:solidFill>
                  <a:srgbClr val="273239"/>
                </a:solidFill>
                <a:latin typeface="Consolas" panose="020B0609020204030204" pitchFamily="49" charset="0"/>
              </a:rPr>
              <a:t>awk</a:t>
            </a:r>
            <a:r>
              <a:rPr lang="en-IN" sz="2400" dirty="0">
                <a:solidFill>
                  <a:srgbClr val="273239"/>
                </a:solidFill>
                <a:latin typeface="Consolas" panose="020B0609020204030204" pitchFamily="49" charset="0"/>
              </a:rPr>
              <a:t> –F”|” ‘NR == 3, NR == 6 { print NR, $2,$4 }’ </a:t>
            </a:r>
            <a:r>
              <a:rPr lang="en-IN" sz="2400" dirty="0" err="1" smtClean="0">
                <a:solidFill>
                  <a:srgbClr val="273239"/>
                </a:solidFill>
                <a:latin typeface="Consolas" panose="020B0609020204030204" pitchFamily="49" charset="0"/>
              </a:rPr>
              <a:t>emps</a:t>
            </a:r>
            <a:endParaRPr lang="en-IN" sz="2400" dirty="0" smtClean="0">
              <a:solidFill>
                <a:srgbClr val="273239"/>
              </a:solidFill>
              <a:latin typeface="Consolas" panose="020B0609020204030204" pitchFamily="49" charset="0"/>
            </a:endParaRPr>
          </a:p>
          <a:p>
            <a:pPr marL="457200" lvl="0" indent="-457200">
              <a:buFont typeface="Arial" panose="020B0604020202020204" pitchFamily="34" charset="0"/>
              <a:buChar char="•"/>
            </a:pPr>
            <a:r>
              <a:rPr kumimoji="0" lang="en-US" sz="2400" b="0" i="0" u="none" strike="noStrike" cap="none" normalizeH="0" baseline="0" dirty="0" err="1" smtClean="0">
                <a:ln>
                  <a:noFill/>
                </a:ln>
                <a:solidFill>
                  <a:srgbClr val="273239"/>
                </a:solidFill>
                <a:effectLst/>
                <a:latin typeface="Consolas" panose="020B0609020204030204" pitchFamily="49" charset="0"/>
              </a:rPr>
              <a:t>awk</a:t>
            </a:r>
            <a:r>
              <a:rPr kumimoji="0" lang="en-US" sz="2400" b="0" i="0" u="none" strike="noStrike" cap="none" normalizeH="0" baseline="0" dirty="0" smtClean="0">
                <a:ln>
                  <a:noFill/>
                </a:ln>
                <a:solidFill>
                  <a:srgbClr val="273239"/>
                </a:solidFill>
                <a:effectLst/>
                <a:latin typeface="Consolas" panose="020B0609020204030204" pitchFamily="49" charset="0"/>
              </a:rPr>
              <a:t> '{ print NR "- " $1 }' </a:t>
            </a:r>
            <a:r>
              <a:rPr kumimoji="0" lang="en-US" sz="2400" b="0" i="0" u="none" strike="noStrike" cap="none" normalizeH="0" baseline="0" dirty="0" err="1" smtClean="0">
                <a:ln>
                  <a:noFill/>
                </a:ln>
                <a:solidFill>
                  <a:srgbClr val="273239"/>
                </a:solidFill>
                <a:effectLst/>
                <a:latin typeface="Consolas" panose="020B0609020204030204" pitchFamily="49" charset="0"/>
              </a:rPr>
              <a:t>emp</a:t>
            </a:r>
            <a:r>
              <a:rPr lang="en-US" sz="2400" dirty="0" err="1" smtClean="0">
                <a:solidFill>
                  <a:srgbClr val="273239"/>
                </a:solidFill>
                <a:latin typeface="Consolas" panose="020B0609020204030204" pitchFamily="49" charset="0"/>
              </a:rPr>
              <a:t>_data</a:t>
            </a:r>
            <a:r>
              <a:rPr kumimoji="0" lang="en-US" sz="2400" b="0" i="0" u="none" strike="noStrike" cap="none" normalizeH="0" baseline="0" dirty="0" smtClean="0">
                <a:ln>
                  <a:noFill/>
                </a:ln>
                <a:solidFill>
                  <a:srgbClr val="273239"/>
                </a:solidFill>
                <a:effectLst/>
                <a:latin typeface="Consolas" panose="020B0609020204030204" pitchFamily="49" charset="0"/>
              </a:rPr>
              <a:t> </a:t>
            </a:r>
          </a:p>
          <a:p>
            <a:pPr lvl="0" eaLnBrk="0" fontAlgn="base" hangingPunct="0">
              <a:spcBef>
                <a:spcPct val="0"/>
              </a:spcBef>
              <a:spcAft>
                <a:spcPct val="0"/>
              </a:spcAft>
            </a:pPr>
            <a:r>
              <a:rPr kumimoji="0" lang="en-US" sz="2400" i="0" u="none" strike="noStrike" cap="none" normalizeH="0" baseline="0" dirty="0" smtClean="0">
                <a:ln>
                  <a:noFill/>
                </a:ln>
                <a:solidFill>
                  <a:srgbClr val="00B0F0"/>
                </a:solidFill>
                <a:effectLst/>
                <a:latin typeface="urw-din"/>
              </a:rPr>
              <a:t>To print any non empty line if present  </a:t>
            </a:r>
            <a:endParaRPr kumimoji="0" lang="en-US" sz="2400" i="0" u="none" strike="noStrike" cap="none" normalizeH="0" baseline="0" dirty="0" smtClean="0">
              <a:ln>
                <a:noFill/>
              </a:ln>
              <a:solidFill>
                <a:srgbClr val="00B0F0"/>
              </a:solidFill>
              <a:effectLst/>
              <a:latin typeface="Consolas" panose="020B0609020204030204" pitchFamily="49" charset="0"/>
            </a:endParaRPr>
          </a:p>
          <a:p>
            <a:pPr lvl="0" eaLnBrk="0" fontAlgn="base" hangingPunct="0">
              <a:spcBef>
                <a:spcPct val="0"/>
              </a:spcBef>
              <a:spcAft>
                <a:spcPct val="0"/>
              </a:spcAft>
            </a:pPr>
            <a:r>
              <a:rPr kumimoji="0" lang="en-US" sz="2400" b="0" i="0" u="none" strike="noStrike" cap="none" normalizeH="0" baseline="0" dirty="0" smtClean="0">
                <a:ln>
                  <a:noFill/>
                </a:ln>
                <a:solidFill>
                  <a:srgbClr val="273239"/>
                </a:solidFill>
                <a:effectLst/>
                <a:latin typeface="Consolas" panose="020B0609020204030204" pitchFamily="49" charset="0"/>
              </a:rPr>
              <a:t>$ </a:t>
            </a:r>
            <a:r>
              <a:rPr kumimoji="0" lang="en-US" sz="2400" b="0" i="0" u="none" strike="noStrike" cap="none" normalizeH="0" baseline="0" dirty="0" err="1" smtClean="0">
                <a:ln>
                  <a:noFill/>
                </a:ln>
                <a:solidFill>
                  <a:srgbClr val="273239"/>
                </a:solidFill>
                <a:effectLst/>
                <a:latin typeface="Consolas" panose="020B0609020204030204" pitchFamily="49" charset="0"/>
              </a:rPr>
              <a:t>awk</a:t>
            </a:r>
            <a:r>
              <a:rPr kumimoji="0" lang="en-US" sz="2400" b="0" i="0" u="none" strike="noStrike" cap="none" normalizeH="0" baseline="0" dirty="0" smtClean="0">
                <a:ln>
                  <a:noFill/>
                </a:ln>
                <a:solidFill>
                  <a:srgbClr val="273239"/>
                </a:solidFill>
                <a:effectLst/>
                <a:latin typeface="Consolas" panose="020B0609020204030204" pitchFamily="49" charset="0"/>
              </a:rPr>
              <a:t> 'NF &lt; 0' </a:t>
            </a:r>
            <a:r>
              <a:rPr kumimoji="0" lang="en-US" sz="2400" b="0" i="0" u="none" strike="noStrike" cap="none" normalizeH="0" baseline="0" dirty="0" err="1" smtClean="0">
                <a:ln>
                  <a:noFill/>
                </a:ln>
                <a:solidFill>
                  <a:srgbClr val="273239"/>
                </a:solidFill>
                <a:effectLst/>
                <a:latin typeface="Consolas" panose="020B0609020204030204" pitchFamily="49" charset="0"/>
              </a:rPr>
              <a:t>emp_data</a:t>
            </a:r>
            <a:endParaRPr kumimoji="0" lang="en-US" sz="2400" b="0" i="0" u="none" strike="noStrike" cap="none" normalizeH="0" baseline="0" dirty="0" smtClean="0">
              <a:ln>
                <a:noFill/>
              </a:ln>
              <a:solidFill>
                <a:srgbClr val="273239"/>
              </a:solidFill>
              <a:effectLst/>
              <a:latin typeface="Consolas" panose="020B0609020204030204" pitchFamily="49" charset="0"/>
            </a:endParaRPr>
          </a:p>
          <a:p>
            <a:pPr lvl="0" eaLnBrk="0" fontAlgn="base" hangingPunct="0">
              <a:spcBef>
                <a:spcPct val="0"/>
              </a:spcBef>
              <a:spcAft>
                <a:spcPct val="0"/>
              </a:spcAft>
            </a:pPr>
            <a:r>
              <a:rPr lang="en-US" sz="2400" dirty="0">
                <a:solidFill>
                  <a:srgbClr val="00B0F0"/>
                </a:solidFill>
                <a:latin typeface="urw-din"/>
              </a:rPr>
              <a:t>To find the length of the longest line present in the file:  </a:t>
            </a:r>
          </a:p>
          <a:p>
            <a:pPr lvl="0" eaLnBrk="0" fontAlgn="base" hangingPunct="0">
              <a:spcBef>
                <a:spcPct val="0"/>
              </a:spcBef>
              <a:spcAft>
                <a:spcPct val="0"/>
              </a:spcAft>
            </a:pPr>
            <a:r>
              <a:rPr kumimoji="0" lang="en-US" sz="2400" b="0" i="0" u="none" strike="noStrike" cap="none" normalizeH="0" baseline="0" dirty="0" smtClean="0">
                <a:ln>
                  <a:noFill/>
                </a:ln>
                <a:solidFill>
                  <a:srgbClr val="273239"/>
                </a:solidFill>
                <a:effectLst/>
                <a:latin typeface="Consolas" panose="020B0609020204030204" pitchFamily="49" charset="0"/>
              </a:rPr>
              <a:t>$ </a:t>
            </a:r>
            <a:r>
              <a:rPr kumimoji="0" lang="en-US" sz="2400" b="0" i="0" u="none" strike="noStrike" cap="none" normalizeH="0" baseline="0" dirty="0" err="1" smtClean="0">
                <a:ln>
                  <a:noFill/>
                </a:ln>
                <a:solidFill>
                  <a:srgbClr val="273239"/>
                </a:solidFill>
                <a:effectLst/>
                <a:latin typeface="Consolas" panose="020B0609020204030204" pitchFamily="49" charset="0"/>
              </a:rPr>
              <a:t>awk</a:t>
            </a:r>
            <a:r>
              <a:rPr kumimoji="0" lang="en-US" sz="2400" b="0" i="0" u="none" strike="noStrike" cap="none" normalizeH="0" baseline="0" dirty="0" smtClean="0">
                <a:ln>
                  <a:noFill/>
                </a:ln>
                <a:solidFill>
                  <a:srgbClr val="273239"/>
                </a:solidFill>
                <a:effectLst/>
                <a:latin typeface="Consolas" panose="020B0609020204030204" pitchFamily="49" charset="0"/>
              </a:rPr>
              <a:t> '{ if (length($0) &gt; max) max = length($0) } END { print max }‘</a:t>
            </a:r>
            <a:r>
              <a:rPr kumimoji="0" lang="en-US" sz="2400" b="0" i="0" u="none" strike="noStrike" cap="none" normalizeH="0" dirty="0" smtClean="0">
                <a:ln>
                  <a:noFill/>
                </a:ln>
                <a:solidFill>
                  <a:srgbClr val="273239"/>
                </a:solidFill>
                <a:effectLst/>
                <a:latin typeface="Consolas" panose="020B0609020204030204" pitchFamily="49" charset="0"/>
              </a:rPr>
              <a:t> </a:t>
            </a:r>
            <a:r>
              <a:rPr kumimoji="0" lang="en-US" sz="2400" b="0" i="0" u="none" strike="noStrike" cap="none" normalizeH="0" dirty="0" err="1" smtClean="0">
                <a:ln>
                  <a:noFill/>
                </a:ln>
                <a:solidFill>
                  <a:srgbClr val="273239"/>
                </a:solidFill>
                <a:effectLst/>
                <a:latin typeface="Consolas" panose="020B0609020204030204" pitchFamily="49" charset="0"/>
              </a:rPr>
              <a:t>emp_data</a:t>
            </a:r>
            <a:endParaRPr kumimoji="0" lang="en-US" sz="2400" b="0" i="0" u="none" strike="noStrike" cap="none" normalizeH="0" dirty="0" smtClean="0">
              <a:ln>
                <a:noFill/>
              </a:ln>
              <a:solidFill>
                <a:srgbClr val="273239"/>
              </a:solidFill>
              <a:effectLst/>
              <a:latin typeface="Consolas" panose="020B0609020204030204" pitchFamily="49" charset="0"/>
            </a:endParaRPr>
          </a:p>
          <a:p>
            <a:pPr lvl="0" eaLnBrk="0" fontAlgn="base" hangingPunct="0">
              <a:spcBef>
                <a:spcPct val="0"/>
              </a:spcBef>
              <a:spcAft>
                <a:spcPct val="0"/>
              </a:spcAft>
            </a:pPr>
            <a:r>
              <a:rPr lang="en-US" sz="2400" dirty="0">
                <a:solidFill>
                  <a:srgbClr val="00B0F0"/>
                </a:solidFill>
                <a:latin typeface="urw-din"/>
              </a:rPr>
              <a:t>To count the lines in a file:  </a:t>
            </a:r>
          </a:p>
          <a:p>
            <a:pPr lvl="0" eaLnBrk="0" fontAlgn="base" hangingPunct="0">
              <a:spcBef>
                <a:spcPct val="0"/>
              </a:spcBef>
              <a:spcAft>
                <a:spcPct val="0"/>
              </a:spcAft>
            </a:pPr>
            <a:r>
              <a:rPr kumimoji="0" lang="en-US" sz="2400" b="0" i="0" u="none" strike="noStrike" cap="none" normalizeH="0" baseline="0" dirty="0" smtClean="0">
                <a:ln>
                  <a:noFill/>
                </a:ln>
                <a:solidFill>
                  <a:srgbClr val="273239"/>
                </a:solidFill>
                <a:effectLst/>
                <a:latin typeface="Consolas" panose="020B0609020204030204" pitchFamily="49" charset="0"/>
              </a:rPr>
              <a:t>$ </a:t>
            </a:r>
            <a:r>
              <a:rPr kumimoji="0" lang="en-US" sz="2400" b="0" i="0" u="none" strike="noStrike" cap="none" normalizeH="0" baseline="0" dirty="0" err="1" smtClean="0">
                <a:ln>
                  <a:noFill/>
                </a:ln>
                <a:solidFill>
                  <a:srgbClr val="273239"/>
                </a:solidFill>
                <a:effectLst/>
                <a:latin typeface="Consolas" panose="020B0609020204030204" pitchFamily="49" charset="0"/>
              </a:rPr>
              <a:t>awk</a:t>
            </a:r>
            <a:r>
              <a:rPr kumimoji="0" lang="en-US" sz="2400" b="0" i="0" u="none" strike="noStrike" cap="none" normalizeH="0" baseline="0" dirty="0" smtClean="0">
                <a:ln>
                  <a:noFill/>
                </a:ln>
                <a:solidFill>
                  <a:srgbClr val="273239"/>
                </a:solidFill>
                <a:effectLst/>
                <a:latin typeface="Consolas" panose="020B0609020204030204" pitchFamily="49" charset="0"/>
              </a:rPr>
              <a:t> 'END { print NR }' </a:t>
            </a:r>
            <a:r>
              <a:rPr kumimoji="0" lang="en-US" sz="2400" b="0" i="0" u="none" strike="noStrike" cap="none" normalizeH="0" baseline="0" dirty="0" err="1" smtClean="0">
                <a:ln>
                  <a:noFill/>
                </a:ln>
                <a:solidFill>
                  <a:srgbClr val="273239"/>
                </a:solidFill>
                <a:effectLst/>
                <a:latin typeface="Consolas" panose="020B0609020204030204" pitchFamily="49" charset="0"/>
              </a:rPr>
              <a:t>emp_data</a:t>
            </a:r>
            <a:endParaRPr kumimoji="0" lang="en-US" sz="3600" b="0" i="0" u="none" strike="noStrike" cap="none" normalizeH="0" baseline="0" dirty="0" smtClean="0">
              <a:ln>
                <a:noFill/>
              </a:ln>
              <a:solidFill>
                <a:schemeClr val="tx1"/>
              </a:solidFill>
              <a:effectLst/>
              <a:latin typeface="Arial" panose="020B0604020202020204" pitchFamily="34" charset="0"/>
            </a:endParaRPr>
          </a:p>
          <a:p>
            <a:pPr lvl="0" eaLnBrk="0" fontAlgn="base" hangingPunct="0">
              <a:spcBef>
                <a:spcPct val="0"/>
              </a:spcBef>
              <a:spcAft>
                <a:spcPct val="0"/>
              </a:spcAft>
            </a:pPr>
            <a:endParaRPr kumimoji="0" lang="en-US" sz="2800" b="0" i="0" u="none" strike="noStrike" cap="none" normalizeH="0" dirty="0" smtClean="0">
              <a:ln>
                <a:noFill/>
              </a:ln>
              <a:solidFill>
                <a:srgbClr val="273239"/>
              </a:solidFill>
              <a:effectLst/>
              <a:latin typeface="Consolas" panose="020B0609020204030204" pitchFamily="49" charset="0"/>
            </a:endParaRPr>
          </a:p>
          <a:p>
            <a:pPr lvl="0" eaLnBrk="0" fontAlgn="base" hangingPunct="0">
              <a:spcBef>
                <a:spcPct val="0"/>
              </a:spcBef>
              <a:spcAft>
                <a:spcPct val="0"/>
              </a:spcAft>
            </a:pPr>
            <a:endParaRPr lang="en-US" sz="2800" dirty="0"/>
          </a:p>
        </p:txBody>
      </p:sp>
      <p:sp>
        <p:nvSpPr>
          <p:cNvPr id="11" name="Rectangle 4"/>
          <p:cNvSpPr>
            <a:spLocks noChangeArrowheads="1"/>
          </p:cNvSpPr>
          <p:nvPr/>
        </p:nvSpPr>
        <p:spPr bwMode="auto">
          <a:xfrm>
            <a:off x="0" y="45230"/>
            <a:ext cx="65" cy="3667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5"/>
          <p:cNvSpPr>
            <a:spLocks noChangeArrowheads="1"/>
          </p:cNvSpPr>
          <p:nvPr/>
        </p:nvSpPr>
        <p:spPr bwMode="auto">
          <a:xfrm>
            <a:off x="0" y="45230"/>
            <a:ext cx="65" cy="3667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6"/>
          <p:cNvSpPr>
            <a:spLocks noChangeArrowheads="1"/>
          </p:cNvSpPr>
          <p:nvPr/>
        </p:nvSpPr>
        <p:spPr bwMode="auto">
          <a:xfrm>
            <a:off x="0" y="45230"/>
            <a:ext cx="65" cy="3667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978186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778</TotalTime>
  <Words>852</Words>
  <Application>Microsoft Office PowerPoint</Application>
  <PresentationFormat>Widescreen</PresentationFormat>
  <Paragraphs>93</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Consolas</vt:lpstr>
      <vt:lpstr>urw-din</vt:lpstr>
      <vt:lpstr>Office Theme</vt:lpstr>
      <vt:lpstr>Awk – An Advanced Filter</vt:lpstr>
      <vt:lpstr>WHAT CAN WE DO WITH AWK?</vt:lpstr>
      <vt:lpstr>Various features of the Awk command are as follows:</vt:lpstr>
      <vt:lpstr>Awk syntax</vt:lpstr>
      <vt:lpstr>Awk examples</vt:lpstr>
      <vt:lpstr>Operators – relational operators &lt;,&gt;,&lt;=,&gt;=</vt:lpstr>
      <vt:lpstr>Operators – logical –AND,OR,NOT &amp;&amp;,||,!</vt:lpstr>
      <vt:lpstr>Arithmetic and string operations </vt:lpstr>
      <vt:lpstr>Built-in variables in AWK command</vt:lpstr>
      <vt:lpstr>The BEGIN and END statements(sections)</vt:lpstr>
      <vt:lpstr>Begin and end sections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Awk – An Advanced Filter</dc:title>
  <dc:creator>URMILA</dc:creator>
  <cp:lastModifiedBy>URMILA</cp:lastModifiedBy>
  <cp:revision>38</cp:revision>
  <dcterms:created xsi:type="dcterms:W3CDTF">2022-12-03T06:14:14Z</dcterms:created>
  <dcterms:modified xsi:type="dcterms:W3CDTF">2024-04-02T08:20:17Z</dcterms:modified>
</cp:coreProperties>
</file>